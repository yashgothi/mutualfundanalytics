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1" d="100"/>
          <a:sy n="21" d="100"/>
        </p:scale>
        <p:origin x="100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739" y="1269763"/>
            <a:ext cx="17510522" cy="5359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6930"/>
              </a:lnSpc>
              <a:spcBef>
                <a:spcPct val="0"/>
              </a:spcBef>
            </a:pPr>
            <a:r>
              <a:rPr lang="en-US" sz="4950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Mutual Fund Analytics Platform</a:t>
            </a:r>
          </a:p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Engineering, Risk Analytics &amp; Investor Insights</a:t>
            </a:r>
          </a:p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By: Yash Gothi</a:t>
            </a:r>
          </a:p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 Used: Python, Pandas, SQLite, SQLAlchemy, Jupyter, Power BI</a:t>
            </a:r>
          </a:p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&amp; GitHub</a:t>
            </a:r>
          </a:p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Bluestock Fintech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285787"/>
            <a:ext cx="17184586" cy="866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0"/>
              </a:lnSpc>
              <a:spcBef>
                <a:spcPct val="0"/>
              </a:spcBef>
            </a:pPr>
            <a:r>
              <a:rPr lang="en-US" sz="43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Mutual fund investors and fund houses require data-driven insights to understand: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Fund performance                                                                                                  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Investor behavior                                                                                                    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Portfolio risk                                                                                                                 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SIP continuity                                                                                                          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Sector concentration                                                                                            </a:t>
            </a:r>
          </a:p>
          <a:p>
            <a:pPr algn="ctr">
              <a:lnSpc>
                <a:spcPts val="5015"/>
              </a:lnSpc>
              <a:spcBef>
                <a:spcPct val="0"/>
              </a:spcBef>
            </a:pPr>
            <a:r>
              <a:rPr lang="en-US" sz="35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Project Objectives                                                                                                   </a:t>
            </a:r>
          </a:p>
          <a:p>
            <a:pPr algn="ctr">
              <a:lnSpc>
                <a:spcPts val="4735"/>
              </a:lnSpc>
              <a:spcBef>
                <a:spcPct val="0"/>
              </a:spcBef>
            </a:pPr>
            <a:r>
              <a:rPr lang="en-US" sz="33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Build ETL pipelines                                                                                             </a:t>
            </a:r>
          </a:p>
          <a:p>
            <a:pPr algn="ctr">
              <a:lnSpc>
                <a:spcPts val="3914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Design analytical database                                                                                                          </a:t>
            </a:r>
          </a:p>
          <a:p>
            <a:pPr algn="ctr">
              <a:lnSpc>
                <a:spcPts val="3914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Analyze investor behavior                                                                                                            </a:t>
            </a:r>
          </a:p>
          <a:p>
            <a:pPr algn="ctr">
              <a:lnSpc>
                <a:spcPts val="3914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Evaluate risk-adjusted performance                                                                                         </a:t>
            </a:r>
          </a:p>
          <a:p>
            <a:pPr algn="ctr">
              <a:lnSpc>
                <a:spcPts val="3914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Develop a recommendation engine                                                                                          </a:t>
            </a:r>
          </a:p>
          <a:p>
            <a:pPr algn="ctr">
              <a:lnSpc>
                <a:spcPts val="3914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Create executive dashboards                                                                                                     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sz="2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                 </a:t>
            </a:r>
          </a:p>
          <a:p>
            <a:pPr algn="ctr">
              <a:lnSpc>
                <a:spcPts val="4194"/>
              </a:lnSpc>
              <a:spcBef>
                <a:spcPct val="0"/>
              </a:spcBef>
            </a:pPr>
            <a:endParaRPr lang="en-US" sz="299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-76200"/>
            <a:ext cx="15305085" cy="66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0"/>
              </a:lnSpc>
              <a:spcBef>
                <a:spcPct val="0"/>
              </a:spcBef>
            </a:pPr>
            <a:r>
              <a:rPr lang="en-US" sz="387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92401" y="8206556"/>
            <a:ext cx="4026535" cy="160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1"/>
              </a:lnSpc>
              <a:spcBef>
                <a:spcPct val="0"/>
              </a:spcBef>
            </a:pPr>
            <a:r>
              <a:rPr lang="en-US" sz="183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External Source</a:t>
            </a:r>
          </a:p>
          <a:p>
            <a:pPr algn="ctr">
              <a:lnSpc>
                <a:spcPts val="2571"/>
              </a:lnSpc>
              <a:spcBef>
                <a:spcPct val="0"/>
              </a:spcBef>
            </a:pPr>
            <a:r>
              <a:rPr lang="en-US" sz="183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mfapi.in API</a:t>
            </a:r>
          </a:p>
          <a:p>
            <a:pPr marL="396513" lvl="1" indent="-198257" algn="ctr">
              <a:lnSpc>
                <a:spcPts val="2571"/>
              </a:lnSpc>
              <a:spcBef>
                <a:spcPct val="0"/>
              </a:spcBef>
              <a:buFont typeface="Arial"/>
              <a:buChar char="•"/>
            </a:pPr>
            <a:r>
              <a:rPr lang="en-US" sz="183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NAV retrieval</a:t>
            </a:r>
          </a:p>
          <a:p>
            <a:pPr marL="396513" lvl="1" indent="-198257" algn="ctr">
              <a:lnSpc>
                <a:spcPts val="2571"/>
              </a:lnSpc>
              <a:spcBef>
                <a:spcPct val="0"/>
              </a:spcBef>
              <a:buFont typeface="Arial"/>
              <a:buChar char="•"/>
            </a:pPr>
            <a:r>
              <a:rPr lang="en-US" sz="183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Scheme validation</a:t>
            </a:r>
          </a:p>
          <a:p>
            <a:pPr algn="ctr">
              <a:lnSpc>
                <a:spcPts val="2571"/>
              </a:lnSpc>
              <a:spcBef>
                <a:spcPct val="0"/>
              </a:spcBef>
            </a:pPr>
            <a:endParaRPr lang="en-US" sz="183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57463" y="722924"/>
            <a:ext cx="1523504" cy="30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1"/>
              </a:lnSpc>
              <a:spcBef>
                <a:spcPct val="0"/>
              </a:spcBef>
            </a:pPr>
            <a:r>
              <a:rPr lang="en-US" sz="183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Used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B29EB1C6-1DC8-ADBB-D46A-6FFB1A5CFF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685935"/>
              </p:ext>
            </p:extLst>
          </p:nvPr>
        </p:nvGraphicFramePr>
        <p:xfrm>
          <a:off x="1028701" y="1428106"/>
          <a:ext cx="16344900" cy="677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4179414" imgH="6039004" progId="Excel.Sheet.12">
                  <p:embed/>
                </p:oleObj>
              </mc:Choice>
              <mc:Fallback>
                <p:oleObj name="Worksheet" r:id="rId2" imgW="14179414" imgH="6039004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1" y="1428106"/>
                        <a:ext cx="16344900" cy="677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17404" y="2206895"/>
            <a:ext cx="10631313" cy="7522475"/>
          </a:xfrm>
          <a:custGeom>
            <a:avLst/>
            <a:gdLst/>
            <a:ahLst/>
            <a:cxnLst/>
            <a:rect l="l" t="t" r="r" b="b"/>
            <a:pathLst>
              <a:path w="10631313" h="7522475">
                <a:moveTo>
                  <a:pt x="0" y="0"/>
                </a:moveTo>
                <a:lnTo>
                  <a:pt x="10631313" y="0"/>
                </a:lnTo>
                <a:lnTo>
                  <a:pt x="10631313" y="7522475"/>
                </a:lnTo>
                <a:lnTo>
                  <a:pt x="0" y="752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82" r="-848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287325" y="408164"/>
            <a:ext cx="12797097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7325" y="1370895"/>
            <a:ext cx="15093119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Raw Data → ETL → SQLite Warehouse → Analytics →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1225" y="2343856"/>
            <a:ext cx="2949897" cy="501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CSV Files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ETL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Validation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SQLite Database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 Analytics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↓</a:t>
            </a:r>
          </a:p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BI / Reports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01413" y="2362906"/>
            <a:ext cx="3553392" cy="40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0"/>
              </a:lnSpc>
              <a:spcBef>
                <a:spcPct val="0"/>
              </a:spcBef>
            </a:pPr>
            <a:r>
              <a:rPr lang="en-US" sz="242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Star Schema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40728" y="1078984"/>
            <a:ext cx="13289244" cy="8000278"/>
          </a:xfrm>
          <a:custGeom>
            <a:avLst/>
            <a:gdLst/>
            <a:ahLst/>
            <a:cxnLst/>
            <a:rect l="l" t="t" r="r" b="b"/>
            <a:pathLst>
              <a:path w="13289244" h="8000278">
                <a:moveTo>
                  <a:pt x="0" y="0"/>
                </a:moveTo>
                <a:lnTo>
                  <a:pt x="13289244" y="0"/>
                </a:lnTo>
                <a:lnTo>
                  <a:pt x="13289244" y="8000278"/>
                </a:lnTo>
                <a:lnTo>
                  <a:pt x="0" y="800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398639"/>
            <a:ext cx="14813225" cy="68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1"/>
              </a:lnSpc>
              <a:spcBef>
                <a:spcPct val="0"/>
              </a:spcBef>
            </a:pPr>
            <a:r>
              <a:rPr lang="en-US" sz="40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EDA HIGHLIGHTS (Investor Analytics)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5513" y="6351189"/>
            <a:ext cx="5000204" cy="2728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528" lvl="1" indent="-240764" algn="ctr">
              <a:lnSpc>
                <a:spcPts val="3122"/>
              </a:lnSpc>
              <a:spcBef>
                <a:spcPct val="0"/>
              </a:spcBef>
              <a:buFont typeface="Arial"/>
              <a:buChar char="•"/>
            </a:pPr>
            <a:r>
              <a:rPr lang="en-US" sz="22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26–35 age group dominates investments</a:t>
            </a:r>
          </a:p>
          <a:p>
            <a:pPr marL="481528" lvl="1" indent="-240764" algn="ctr">
              <a:lnSpc>
                <a:spcPts val="3122"/>
              </a:lnSpc>
              <a:spcBef>
                <a:spcPct val="0"/>
              </a:spcBef>
              <a:buFont typeface="Arial"/>
              <a:buChar char="•"/>
            </a:pPr>
            <a:r>
              <a:rPr lang="en-US" sz="22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Working professionals drive SIP adoption</a:t>
            </a:r>
          </a:p>
          <a:p>
            <a:pPr marL="481528" lvl="1" indent="-240764" algn="ctr">
              <a:lnSpc>
                <a:spcPts val="3122"/>
              </a:lnSpc>
              <a:spcBef>
                <a:spcPct val="0"/>
              </a:spcBef>
              <a:buFont typeface="Arial"/>
              <a:buChar char="•"/>
            </a:pPr>
            <a:r>
              <a:rPr lang="en-US" sz="22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Female participation continues to grow</a:t>
            </a:r>
          </a:p>
          <a:p>
            <a:pPr algn="ctr">
              <a:lnSpc>
                <a:spcPts val="3122"/>
              </a:lnSpc>
              <a:spcBef>
                <a:spcPct val="0"/>
              </a:spcBef>
            </a:pPr>
            <a:endParaRPr lang="en-US" sz="223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513" y="5359260"/>
            <a:ext cx="5000204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Insights: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943" y="1475161"/>
            <a:ext cx="9524852" cy="5286179"/>
          </a:xfrm>
          <a:custGeom>
            <a:avLst/>
            <a:gdLst/>
            <a:ahLst/>
            <a:cxnLst/>
            <a:rect l="l" t="t" r="r" b="b"/>
            <a:pathLst>
              <a:path w="9524852" h="5286179">
                <a:moveTo>
                  <a:pt x="0" y="0"/>
                </a:moveTo>
                <a:lnTo>
                  <a:pt x="9524851" y="0"/>
                </a:lnTo>
                <a:lnTo>
                  <a:pt x="9524851" y="5286178"/>
                </a:lnTo>
                <a:lnTo>
                  <a:pt x="0" y="528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033" b="-303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144000" y="1378640"/>
            <a:ext cx="9144000" cy="5536740"/>
          </a:xfrm>
          <a:custGeom>
            <a:avLst/>
            <a:gdLst/>
            <a:ahLst/>
            <a:cxnLst/>
            <a:rect l="l" t="t" r="r" b="b"/>
            <a:pathLst>
              <a:path w="9144000" h="5536740">
                <a:moveTo>
                  <a:pt x="0" y="0"/>
                </a:moveTo>
                <a:lnTo>
                  <a:pt x="9144000" y="0"/>
                </a:lnTo>
                <a:lnTo>
                  <a:pt x="9144000" y="5536741"/>
                </a:lnTo>
                <a:lnTo>
                  <a:pt x="0" y="5536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0" y="408164"/>
            <a:ext cx="14955140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EDA Highlights (Geographic Analysis)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2575" y="6694664"/>
            <a:ext cx="10534551" cy="25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Insights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T30 cities contribute ~67% of SIP volume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Significant growth opportunity in B30 regions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Investments concentrated in a few large states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7005" y="553861"/>
            <a:ext cx="13079078" cy="6403872"/>
          </a:xfrm>
          <a:custGeom>
            <a:avLst/>
            <a:gdLst/>
            <a:ahLst/>
            <a:cxnLst/>
            <a:rect l="l" t="t" r="r" b="b"/>
            <a:pathLst>
              <a:path w="13079078" h="6403872">
                <a:moveTo>
                  <a:pt x="0" y="0"/>
                </a:moveTo>
                <a:lnTo>
                  <a:pt x="13079078" y="0"/>
                </a:lnTo>
                <a:lnTo>
                  <a:pt x="13079078" y="6403872"/>
                </a:lnTo>
                <a:lnTo>
                  <a:pt x="0" y="640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75" b="-130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251498" y="-66675"/>
            <a:ext cx="12951789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Analytics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51498" y="6854457"/>
            <a:ext cx="11642911" cy="240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3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Insights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3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Several funds outperformed benchmark indices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3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Long-term compounding created significant alpha</a:t>
            </a:r>
          </a:p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3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Fund performance varies considerably across schemes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7888" y="1859491"/>
            <a:ext cx="8437180" cy="4732238"/>
          </a:xfrm>
          <a:custGeom>
            <a:avLst/>
            <a:gdLst/>
            <a:ahLst/>
            <a:cxnLst/>
            <a:rect l="l" t="t" r="r" b="b"/>
            <a:pathLst>
              <a:path w="8437180" h="4732238">
                <a:moveTo>
                  <a:pt x="0" y="0"/>
                </a:moveTo>
                <a:lnTo>
                  <a:pt x="8437180" y="0"/>
                </a:lnTo>
                <a:lnTo>
                  <a:pt x="8437180" y="4732239"/>
                </a:lnTo>
                <a:lnTo>
                  <a:pt x="0" y="4732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12" b="-59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144000" y="2184426"/>
            <a:ext cx="8414957" cy="4407304"/>
          </a:xfrm>
          <a:custGeom>
            <a:avLst/>
            <a:gdLst/>
            <a:ahLst/>
            <a:cxnLst/>
            <a:rect l="l" t="t" r="r" b="b"/>
            <a:pathLst>
              <a:path w="8414957" h="4407304">
                <a:moveTo>
                  <a:pt x="0" y="0"/>
                </a:moveTo>
                <a:lnTo>
                  <a:pt x="8414957" y="0"/>
                </a:lnTo>
                <a:lnTo>
                  <a:pt x="8414957" y="4407304"/>
                </a:lnTo>
                <a:lnTo>
                  <a:pt x="0" y="4407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99" b="-47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685095"/>
            <a:ext cx="15151832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Analytics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74581" y="1400023"/>
            <a:ext cx="5642923" cy="45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5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Rolling 90-Day Sharpe Ratio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87878" y="1380973"/>
            <a:ext cx="5863630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Daily Returns Distribution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4108" y="7096555"/>
            <a:ext cx="9254066" cy="3064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Metrics Used</a:t>
            </a:r>
          </a:p>
          <a:p>
            <a:pPr marL="418948" lvl="1" indent="-209474" algn="ctr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Sharpe Ratio</a:t>
            </a:r>
          </a:p>
          <a:p>
            <a:pPr marL="418948" lvl="1" indent="-209474" algn="ctr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 (95%)</a:t>
            </a:r>
          </a:p>
          <a:p>
            <a:pPr marL="418948" lvl="1" indent="-209474" algn="ctr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CVaR</a:t>
            </a:r>
          </a:p>
          <a:p>
            <a:pPr marL="418948" lvl="1" indent="-209474" algn="ctr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Correlation Analysis</a:t>
            </a:r>
          </a:p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sz="19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 :</a:t>
            </a:r>
          </a:p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Risk-adjusted returns provide better investment evaluation than absolute returns alone</a:t>
            </a:r>
          </a:p>
          <a:p>
            <a:pPr algn="ctr">
              <a:lnSpc>
                <a:spcPts val="2716"/>
              </a:lnSpc>
              <a:spcBef>
                <a:spcPct val="0"/>
              </a:spcBef>
            </a:pPr>
            <a:endParaRPr lang="en-US" sz="194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6841" y="1292397"/>
            <a:ext cx="10769942" cy="1473681"/>
          </a:xfrm>
          <a:custGeom>
            <a:avLst/>
            <a:gdLst/>
            <a:ahLst/>
            <a:cxnLst/>
            <a:rect l="l" t="t" r="r" b="b"/>
            <a:pathLst>
              <a:path w="10769942" h="1473681">
                <a:moveTo>
                  <a:pt x="0" y="0"/>
                </a:moveTo>
                <a:lnTo>
                  <a:pt x="10769942" y="0"/>
                </a:lnTo>
                <a:lnTo>
                  <a:pt x="10769942" y="1473681"/>
                </a:lnTo>
                <a:lnTo>
                  <a:pt x="0" y="1473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47" b="-504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187480" y="2964323"/>
            <a:ext cx="10071820" cy="6293977"/>
          </a:xfrm>
          <a:custGeom>
            <a:avLst/>
            <a:gdLst/>
            <a:ahLst/>
            <a:cxnLst/>
            <a:rect l="l" t="t" r="r" b="b"/>
            <a:pathLst>
              <a:path w="10071820" h="6293977">
                <a:moveTo>
                  <a:pt x="0" y="0"/>
                </a:moveTo>
                <a:lnTo>
                  <a:pt x="10071820" y="0"/>
                </a:lnTo>
                <a:lnTo>
                  <a:pt x="10071820" y="6293977"/>
                </a:lnTo>
                <a:lnTo>
                  <a:pt x="0" y="62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29" t="-2102" r="-3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722674" y="321090"/>
            <a:ext cx="12518682" cy="1268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Screenshots (Investor Dashboard)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endParaRPr lang="en-US" sz="3694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7897" y="4309669"/>
            <a:ext cx="6315939" cy="3454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6"/>
              </a:lnSpc>
            </a:pPr>
            <a:r>
              <a:rPr lang="en-US" sz="3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Value</a:t>
            </a:r>
          </a:p>
          <a:p>
            <a:pPr marL="856827" lvl="1" indent="-428413" algn="ctr">
              <a:lnSpc>
                <a:spcPts val="5556"/>
              </a:lnSpc>
              <a:spcBef>
                <a:spcPct val="0"/>
              </a:spcBef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Investor segmentation</a:t>
            </a:r>
          </a:p>
          <a:p>
            <a:pPr marL="856827" lvl="1" indent="-428413" algn="ctr">
              <a:lnSpc>
                <a:spcPts val="5556"/>
              </a:lnSpc>
              <a:spcBef>
                <a:spcPct val="0"/>
              </a:spcBef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Retention monitoring</a:t>
            </a:r>
          </a:p>
          <a:p>
            <a:pPr marL="856827" lvl="1" indent="-428413" algn="ctr">
              <a:lnSpc>
                <a:spcPts val="5556"/>
              </a:lnSpc>
              <a:spcBef>
                <a:spcPct val="0"/>
              </a:spcBef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Growth tracking</a:t>
            </a:r>
          </a:p>
          <a:p>
            <a:pPr algn="ctr">
              <a:lnSpc>
                <a:spcPts val="5556"/>
              </a:lnSpc>
              <a:spcBef>
                <a:spcPct val="0"/>
              </a:spcBef>
            </a:pPr>
            <a:endParaRPr lang="en-US" sz="396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0569341" cy="6074396"/>
          </a:xfrm>
          <a:custGeom>
            <a:avLst/>
            <a:gdLst/>
            <a:ahLst/>
            <a:cxnLst/>
            <a:rect l="l" t="t" r="r" b="b"/>
            <a:pathLst>
              <a:path w="10569341" h="6074396">
                <a:moveTo>
                  <a:pt x="0" y="0"/>
                </a:moveTo>
                <a:lnTo>
                  <a:pt x="10569341" y="0"/>
                </a:lnTo>
                <a:lnTo>
                  <a:pt x="10569341" y="6074396"/>
                </a:lnTo>
                <a:lnTo>
                  <a:pt x="0" y="6074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56" t="-5556" b="-119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817607" y="805702"/>
            <a:ext cx="6245150" cy="4628248"/>
          </a:xfrm>
          <a:custGeom>
            <a:avLst/>
            <a:gdLst/>
            <a:ahLst/>
            <a:cxnLst/>
            <a:rect l="l" t="t" r="r" b="b"/>
            <a:pathLst>
              <a:path w="6245150" h="4628248">
                <a:moveTo>
                  <a:pt x="0" y="0"/>
                </a:moveTo>
                <a:lnTo>
                  <a:pt x="6245150" y="0"/>
                </a:lnTo>
                <a:lnTo>
                  <a:pt x="6245150" y="4628248"/>
                </a:lnTo>
                <a:lnTo>
                  <a:pt x="0" y="4628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811" b="-4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8741204" y="5690405"/>
            <a:ext cx="9321553" cy="4295602"/>
          </a:xfrm>
          <a:custGeom>
            <a:avLst/>
            <a:gdLst/>
            <a:ahLst/>
            <a:cxnLst/>
            <a:rect l="l" t="t" r="r" b="b"/>
            <a:pathLst>
              <a:path w="9321553" h="4295602">
                <a:moveTo>
                  <a:pt x="0" y="0"/>
                </a:moveTo>
                <a:lnTo>
                  <a:pt x="9321553" y="0"/>
                </a:lnTo>
                <a:lnTo>
                  <a:pt x="9321553" y="4295602"/>
                </a:lnTo>
                <a:lnTo>
                  <a:pt x="0" y="4295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387102" y="185166"/>
            <a:ext cx="10180936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Screenshots (Portfolio Analytics)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1198" y="7203296"/>
            <a:ext cx="8520007" cy="25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Value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Diversification assessment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Concentration risk detection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Personalized fund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2849" y="441991"/>
            <a:ext cx="11552024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 &amp;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40969" y="1186352"/>
            <a:ext cx="10206062" cy="62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Findings: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32164"/>
            <a:ext cx="15176903" cy="321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Recent investor cohorts invest the most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T30 cities contribute majority SIP inflows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Some funds show significantly higher downside risk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Diversification varies across equity funds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High Sharpe Ratio funds consistently outperform peers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06974" y="5683672"/>
            <a:ext cx="11674053" cy="321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Recommendations: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 on risk-adjusted returns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B30 penetration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Monitor SIP continuity</a:t>
            </a:r>
          </a:p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portfolio diversification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3557" y="1679535"/>
            <a:ext cx="17041683" cy="682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Mutual Fund Analytics Platform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Questions &amp; Discussion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By: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Yash Gothi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 Stack: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• SQL • SQLite • Power BI • Pandas •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374</Words>
  <Application>Microsoft Office PowerPoint</Application>
  <PresentationFormat>Custom</PresentationFormat>
  <Paragraphs>96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Canva Sans</vt:lpstr>
      <vt:lpstr>Canva Sans Bold</vt:lpstr>
      <vt:lpstr>Calibri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Yash Gothi</cp:lastModifiedBy>
  <cp:revision>2</cp:revision>
  <dcterms:created xsi:type="dcterms:W3CDTF">2006-08-16T00:00:00Z</dcterms:created>
  <dcterms:modified xsi:type="dcterms:W3CDTF">2026-06-26T12:50:30Z</dcterms:modified>
  <dc:identifier>DAHNZq7_sek</dc:identifier>
</cp:coreProperties>
</file>